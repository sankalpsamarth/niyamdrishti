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448750d0640ef" /><Relationship Type="http://schemas.openxmlformats.org/officeDocument/2006/relationships/extended-properties" Target="/docProps/app.xml" Id="R153014264bec4c8d" /><Relationship Type="http://schemas.openxmlformats.org/officeDocument/2006/relationships/officeDocument" Target="/ppt/presentation.xml" Id="R785742bddbf8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55b53a9244812"/>
  </p:sldMasterIdLst>
  <p:notesMasterIdLst>
    <p:notesMasterId xmlns:r="http://schemas.openxmlformats.org/officeDocument/2006/relationships" r:id="R3e755c3b2d724f62"/>
  </p:notesMasterIdLst>
  <p:sldIdLst>
    <p:sldId xmlns:r="http://schemas.openxmlformats.org/officeDocument/2006/relationships" id="256" r:id="Ra36d6c0b8f464ad4"/>
    <p:sldId xmlns:r="http://schemas.openxmlformats.org/officeDocument/2006/relationships" id="257" r:id="R597b40b8750a4da4"/>
    <p:sldId xmlns:r="http://schemas.openxmlformats.org/officeDocument/2006/relationships" id="258" r:id="R61eeb2e12e2a4e24"/>
    <p:sldId xmlns:r="http://schemas.openxmlformats.org/officeDocument/2006/relationships" id="259" r:id="R946d6cfab23e468f"/>
    <p:sldId xmlns:r="http://schemas.openxmlformats.org/officeDocument/2006/relationships" id="260" r:id="R20110fcb70ed4873"/>
    <p:sldId xmlns:r="http://schemas.openxmlformats.org/officeDocument/2006/relationships" id="261" r:id="R9d7d94fe1704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98b22283242ce" /><Relationship Type="http://schemas.openxmlformats.org/officeDocument/2006/relationships/slideMaster" Target="/ppt/slideMasters/slideMaster1.xml" Id="R67855b53a9244812" /><Relationship Type="http://schemas.openxmlformats.org/officeDocument/2006/relationships/notesMaster" Target="/ppt/notesMasters/notesMaster1.xml" Id="R3e755c3b2d724f62" /><Relationship Type="http://schemas.openxmlformats.org/officeDocument/2006/relationships/presProps" Target="/ppt/presProps.xml" Id="R1f8094ac0c4548a2" /><Relationship Type="http://schemas.openxmlformats.org/officeDocument/2006/relationships/viewProps" Target="/ppt/viewProps.xml" Id="R9e37dc36b0af419f" /><Relationship Type="http://schemas.openxmlformats.org/officeDocument/2006/relationships/tableStyles" Target="/ppt/tableStyles.xml" Id="R98cba83c6aad4557" /><Relationship Type="http://schemas.openxmlformats.org/officeDocument/2006/relationships/slide" Target="/ppt/slides/slide1.xml" Id="Ra36d6c0b8f464ad4" /><Relationship Type="http://schemas.openxmlformats.org/officeDocument/2006/relationships/slide" Target="/ppt/slides/slide2.xml" Id="R597b40b8750a4da4" /><Relationship Type="http://schemas.openxmlformats.org/officeDocument/2006/relationships/slide" Target="/ppt/slides/slide3.xml" Id="R61eeb2e12e2a4e24" /><Relationship Type="http://schemas.openxmlformats.org/officeDocument/2006/relationships/slide" Target="/ppt/slides/slide4.xml" Id="R946d6cfab23e468f" /><Relationship Type="http://schemas.openxmlformats.org/officeDocument/2006/relationships/slide" Target="/ppt/slides/slide5.xml" Id="R20110fcb70ed4873" /><Relationship Type="http://schemas.openxmlformats.org/officeDocument/2006/relationships/slide" Target="/ppt/slides/slide6.xml" Id="R9d7d94fe1704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bf7eba1aa2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127354a1e48ae" /><Relationship Type="http://schemas.openxmlformats.org/officeDocument/2006/relationships/notesMaster" Target="/ppt/notesMasters/notesMaster1.xml" Id="Rdea6ca696a55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588c0695bc4440" /><Relationship Type="http://schemas.openxmlformats.org/officeDocument/2006/relationships/notesMaster" Target="/ppt/notesMasters/notesMaster1.xml" Id="R702b19b878a84e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18093e9b34823" /><Relationship Type="http://schemas.openxmlformats.org/officeDocument/2006/relationships/notesMaster" Target="/ppt/notesMasters/notesMaster1.xml" Id="Rb3be41f73bf649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b0b9063f6744f4" /><Relationship Type="http://schemas.openxmlformats.org/officeDocument/2006/relationships/notesMaster" Target="/ppt/notesMasters/notesMaster1.xml" Id="Rf95de5cf432549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49fb2d5f4450b" /><Relationship Type="http://schemas.openxmlformats.org/officeDocument/2006/relationships/notesMaster" Target="/ppt/notesMasters/notesMaster1.xml" Id="Rcdf445c3a87246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13b95338444f03" /><Relationship Type="http://schemas.openxmlformats.org/officeDocument/2006/relationships/notesMaster" Target="/ppt/notesMasters/notesMaster1.xml" Id="Raab360d73dcc43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Demonstrated in local source on 10 September 2026: src/lib/complianceDna.ts builds comparisons from saved inspections as well as explicitly marked sample sightings. src/RoundTwo.tsx provides Correction Lab. Captured listing means user-entered/uploaded evidence, not automatic marketplace crawling. Sources: supplied SIH problem statement 26034 and the existing deck legal references.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Implementation source: package.json, src/lib/ocr.ts, src/lib/compliance.ts, src/lib/repository.ts. Tesseract.js documentation: https://github.com/naptha/tesseract.js (checked 10 September 2026). Its v6 blocks output is opt-in. Local automated regression run: 20/20 passing on 10 September 2026. A heuristic match score is not a calibrated probability. Current storage is per browser origin and device.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Browser verification on 10 September 2026: the HydraGlow Correction Lab changed consumer_email and unit_sale_price from violation to pass after adding care@example.com and changing 0.70/ml to 0.60/ml. Simulation score 79 to 93, with the original inspection score unchanged. Nova Bite image is generated test artwork from the previous prototype, not a field-validation dataset. The real-package study is planned, not completed.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statements describe intended benefits, not measured outcomes. Proposed priorities for the 30 September round require implementation and validation. Country-specific rule libraries require appropriate legal review before deployment. No government system integration exists in this POC.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References retained from existing SIH deck: Department of Consumer Affairs Legal Metrology Act portal https://consumeraffairs.gov.in/pages/legal-metrology-act and consolidated LMPC Rules link in the source deck. POC only covers selected checks. Technical reference https://github.com/naptha/tesseract.js . Automated tests and browser demo results are local engineering checks, not production accuracy evidence.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57b9133ef43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fd87da54b40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6cf0a53a44b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da117faf842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5e086202d40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78478bdba43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5a2815cd94c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40062d8bd43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c52b29b914f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a1b5fd9bb44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cc87a4a884b2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26D7F2-8EEC-4888-B298-7B02E040C97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1321244-D73B-413C-8DF6-B3C19373AD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DF9DA2-0275-4B48-AFC4-E801D3B511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553F2C-3F01-48C0-B863-01C832273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8ED5D5-437E-49F0-8CA9-7AAFE0317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3B68F-2BD2-4280-A010-0D6AE01BE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5B193D-2958-458B-8D1E-FB700D7EE2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059A62-C824-4FBD-85DA-881B0F1566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72B35B-A506-4447-94CD-208C15C36A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65E834-492D-4CE8-99F8-FF432A8B1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EBAC33-A846-459A-AB0E-4EA7C122B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FF8A9E-EA44-4234-8639-5140E7448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A373DE-1F13-4B90-A8FC-828D8CCF3E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C213-3A1D-43EB-9CA3-2322D22285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F30847-FA96-4DD3-842C-8BD3C0D35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591A02-D9CB-4D6A-9BBE-CAF12A7B2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375291-DCF4-4C56-8DF2-45CFEA091D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DEBC73-68B3-45BD-AF99-C618E5AA10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98CDBF-3ADC-42F7-A685-27028D3F5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C6D7D4-07EB-443B-B87B-2D7D74272E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6A2AF7-17B5-432E-9322-CB7356D532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BC498D-66B6-42EA-AB3C-DCAEF831C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29B1C4-113E-4B36-A654-6036C6829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FBEF785-CB04-4572-A97B-DF5F97FB25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094C8FA-F14F-4609-8787-C54BEBADAC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A7162AA-15B9-497A-9A96-275125422D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257A40-4138-49B1-BDFB-F8739E946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589279-373A-49BE-9EA6-1AD2F544D9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922EA5-71E2-4585-9737-5A1AE6367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4C6F4-096F-492F-89D1-8F181483D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D95351-0313-4FDB-AA42-2A7FA349CC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F2509C-7773-4140-964B-2BB798AF73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10E59A-4CDA-4E20-B646-143430138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448840-D233-4720-95C7-9CA38082A5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CA1B14-BC77-4F9D-AD3D-98396EE7C8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83FCE-39C4-4675-9520-8CDCA5016F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5FFFB1-0038-4613-AB55-5C3C339CA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8DF299-13D3-4388-B9E8-4E91C77C2B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1A15DA0-F2B7-4909-966A-7B3187AD6B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DCBB56-C832-4BF4-8E0E-9B4AA5056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D7CF81-92F6-48BA-BD9E-20FC823B8B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134B77-E93D-4967-8FA7-60957787D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F5D88C-BC72-4460-9561-E1048C2CE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766E08B-11DD-4AA0-BBB1-0013C865EF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CD79DD-EAC9-45C1-9CC4-EAE01C97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8EE042-EE89-4531-B1EB-3229738ACA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83759F-7572-4563-A581-FDF3F716C9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808E01-42C3-4656-9B29-81A8920BF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CF8299-2FD1-4BF0-AD42-5CFF4850D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AFA783-0162-4F70-B75E-CBB784784A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A48897-3885-4905-A726-9B16A1A41B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9817D4-8A47-44A4-9194-5E41E9E24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735870-EE13-49AC-8BD7-312307B0A9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5D3F17E-D9E9-4568-A15C-DE9B5CD4A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8AD6F0-776C-42EC-B43C-33DEB85CE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7F6CEF-6F98-4C5A-9516-4B9387AC83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088A65-A76A-46AF-B888-0EE9A8548B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A6220E-813C-4FA9-B164-624991DC66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d0cbb941a438b" /><Relationship Type="http://schemas.openxmlformats.org/officeDocument/2006/relationships/slideLayout" Target="/ppt/slideLayouts/slideLayout1.xml" Id="R0d901ddc40474f4e" /><Relationship Type="http://schemas.openxmlformats.org/officeDocument/2006/relationships/slideLayout" Target="/ppt/slideLayouts/slideLayout2.xml" Id="Rde52ec693f0d4471" /><Relationship Type="http://schemas.openxmlformats.org/officeDocument/2006/relationships/slideLayout" Target="/ppt/slideLayouts/slideLayout3.xml" Id="Rc8ee6e5762414b4d" /><Relationship Type="http://schemas.openxmlformats.org/officeDocument/2006/relationships/slideLayout" Target="/ppt/slideLayouts/slideLayout4.xml" Id="Re4ccc0ea900c4d5b" /><Relationship Type="http://schemas.openxmlformats.org/officeDocument/2006/relationships/slideLayout" Target="/ppt/slideLayouts/slideLayout5.xml" Id="Rab99303594e24b92" /><Relationship Type="http://schemas.openxmlformats.org/officeDocument/2006/relationships/slideLayout" Target="/ppt/slideLayouts/slideLayout6.xml" Id="R325981dc21da4c77" /><Relationship Type="http://schemas.openxmlformats.org/officeDocument/2006/relationships/slideLayout" Target="/ppt/slideLayouts/slideLayout7.xml" Id="R54adc40728d3451a" /><Relationship Type="http://schemas.openxmlformats.org/officeDocument/2006/relationships/slideLayout" Target="/ppt/slideLayouts/slideLayout8.xml" Id="R01d1117603714365" /><Relationship Type="http://schemas.openxmlformats.org/officeDocument/2006/relationships/slideLayout" Target="/ppt/slideLayouts/slideLayout9.xml" Id="R528c7d2d2ecc4052" /><Relationship Type="http://schemas.openxmlformats.org/officeDocument/2006/relationships/slideLayout" Target="/ppt/slideLayouts/slideLayout10.xml" Id="Re731d26dc2064252" /><Relationship Type="http://schemas.openxmlformats.org/officeDocument/2006/relationships/slideLayout" Target="/ppt/slideLayouts/slideLayout11.xml" Id="R7fce1a42512c42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0D447D-A685-46EB-884E-7DE5D8216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092684-C387-4CED-A7C7-1803AE481B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5665FC-4ADF-4016-80C2-C859CA0ED3E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3336B1-D04E-43C9-8161-9230CB7809F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F44DA9-A051-4C72-AC19-E2730C15D2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901ddc40474f4e"/>
    <p:sldLayoutId xmlns:r="http://schemas.openxmlformats.org/officeDocument/2006/relationships" id="2147483650" r:id="Rde52ec693f0d4471"/>
    <p:sldLayoutId xmlns:r="http://schemas.openxmlformats.org/officeDocument/2006/relationships" id="2147483651" r:id="Rc8ee6e5762414b4d"/>
    <p:sldLayoutId xmlns:r="http://schemas.openxmlformats.org/officeDocument/2006/relationships" id="2147483652" r:id="Re4ccc0ea900c4d5b"/>
    <p:sldLayoutId xmlns:r="http://schemas.openxmlformats.org/officeDocument/2006/relationships" id="2147483653" r:id="Rab99303594e24b92"/>
    <p:sldLayoutId xmlns:r="http://schemas.openxmlformats.org/officeDocument/2006/relationships" id="2147483654" r:id="R325981dc21da4c77"/>
    <p:sldLayoutId xmlns:r="http://schemas.openxmlformats.org/officeDocument/2006/relationships" id="2147483655" r:id="R54adc40728d3451a"/>
    <p:sldLayoutId xmlns:r="http://schemas.openxmlformats.org/officeDocument/2006/relationships" id="2147483656" r:id="R01d1117603714365"/>
    <p:sldLayoutId xmlns:r="http://schemas.openxmlformats.org/officeDocument/2006/relationships" id="2147483657" r:id="R528c7d2d2ecc4052"/>
    <p:sldLayoutId xmlns:r="http://schemas.openxmlformats.org/officeDocument/2006/relationships" id="2147483658" r:id="Re731d26dc2064252"/>
    <p:sldLayoutId xmlns:r="http://schemas.openxmlformats.org/officeDocument/2006/relationships" id="2147483659" r:id="R7fce1a42512c4200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8d55dee84fdf" /><Relationship Type="http://schemas.openxmlformats.org/officeDocument/2006/relationships/image" Target="/ppt/media/image.png" Id="R0902d20a401a437f" /><Relationship Type="http://schemas.openxmlformats.org/officeDocument/2006/relationships/image" Target="/ppt/media/image2.png" Id="Rdc1866e7a4744334" /><Relationship Type="http://schemas.openxmlformats.org/officeDocument/2006/relationships/notesSlide" Target="/ppt/notesSlides/notesSlide1.xml" Id="Rc50b19adbaaa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de99a42524e7e" /><Relationship Type="http://schemas.openxmlformats.org/officeDocument/2006/relationships/image" Target="/ppt/media/image2.png" Id="Rbfb0b8c3e4264771" /><Relationship Type="http://schemas.openxmlformats.org/officeDocument/2006/relationships/notesSlide" Target="/ppt/notesSlides/notesSlide2.xml" Id="R58cc7e814cbe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2beb45bf6461b" /><Relationship Type="http://schemas.openxmlformats.org/officeDocument/2006/relationships/image" Target="/ppt/media/image2.png" Id="R5a32bd0438ed459f" /><Relationship Type="http://schemas.openxmlformats.org/officeDocument/2006/relationships/notesSlide" Target="/ppt/notesSlides/notesSlide3.xml" Id="R7964bcba30c7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e6f52dc564161" /><Relationship Type="http://schemas.openxmlformats.org/officeDocument/2006/relationships/image" Target="/ppt/media/image2.png" Id="Rb382dc12b12a4bad" /><Relationship Type="http://schemas.openxmlformats.org/officeDocument/2006/relationships/image" Target="/ppt/media/image3.png" Id="R7045aae0b9ca4a84" /><Relationship Type="http://schemas.openxmlformats.org/officeDocument/2006/relationships/image" Target="/ppt/media/image4.png" Id="R49001b43a7904827" /><Relationship Type="http://schemas.openxmlformats.org/officeDocument/2006/relationships/notesSlide" Target="/ppt/notesSlides/notesSlide4.xml" Id="R512dc9a64418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c7e2ae9ef7421d" /><Relationship Type="http://schemas.openxmlformats.org/officeDocument/2006/relationships/image" Target="/ppt/media/image2.png" Id="R22f1d49137bf473b" /><Relationship Type="http://schemas.openxmlformats.org/officeDocument/2006/relationships/notesSlide" Target="/ppt/notesSlides/notesSlide5.xml" Id="Rb845a1a7c5ea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8bcd6a829f4bfe" /><Relationship Type="http://schemas.openxmlformats.org/officeDocument/2006/relationships/image" Target="/ppt/media/image2.png" Id="Rc2410374ceff4350" /><Relationship Type="http://schemas.openxmlformats.org/officeDocument/2006/relationships/image" Target="/ppt/media/image5.png" Id="R9402a39f92604b9b" /><Relationship Type="http://schemas.openxmlformats.org/officeDocument/2006/relationships/notesSlide" Target="/ppt/notesSlides/notesSlide6.xml" Id="R3284ab757ebf4f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02d20a401a437f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1B8938FE-35F8-4356-A887-859E682E44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4857A81D-FFBF-4F3B-923C-1BD23CB07A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CCA093-20DF-4AC2-A61B-74A5592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(Registered on portal)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866e7a4744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451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E7B296-6C35-43AD-A123-009AA2E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CFB15AEF-693C-4502-8042-0036A4DBA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0"/>
            <a:ext cx="7810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NIYAMDRISHTI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D63300F1-CE06-4E74-9C3D-DD859E10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4762500" cy="50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Proposed solution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NiyamDrishti helps an officer read package labels, verify findings and follow the same product across inspections.</a:t>
            </a:r>
          </a:p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Round two prototype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Local OCR and twelve screening checks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Live DNA comparisons between saved scans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Correction Lab tests proposed label text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Photographs and officer decisions persist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879379-4AB1-4E0B-88C8-7304848EC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9FD1F12-E102-45BD-9485-622C18FA65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222"/>
            <a:ext cx="1524000" cy="80733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dotcom</a:t>
            </a:r>
            <a:endParaRPr/>
          </a:p>
        </p:txBody>
      </p:sp>
      <p:pic>
        <p:nvPicPr>
          <p:cNvPr id="1538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0b8c3e426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dna-kicker">
            <a:extLst xmlns:a="http://schemas.openxmlformats.org/drawingml/2006/main">
              <a:ext uri="{FF2B5EF4-FFF2-40B4-BE49-F238E27FC236}">
                <a16:creationId xmlns:a16="http://schemas.microsoft.com/office/drawing/2014/main" id="{84107CF4-408B-4E3C-AB1A-2CE0031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D8A4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A436"/>
                </a:solidFill>
                <a:latin typeface="Arial"/>
                <a:ea typeface="Arial"/>
                <a:cs typeface="Arial"/>
              </a:rPr>
              <a:t>X-FACTOR: COMPLIANCE DNA</a:t>
            </a:r>
          </a:p>
        </p:txBody>
      </p:sp>
      <p:sp>
        <p:nvSpPr>
          <p:cNvPr id="15365" name="dna-source-line-1">
            <a:extLst xmlns:a="http://schemas.openxmlformats.org/drawingml/2006/main">
              <a:ext uri="{FF2B5EF4-FFF2-40B4-BE49-F238E27FC236}">
                <a16:creationId xmlns:a16="http://schemas.microsoft.com/office/drawing/2014/main" id="{C7C211E6-1A25-4FFB-9920-7EA8AB2F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A2B4"/>
            </a:solidFill>
            <a:prstDash val="solid"/>
          </a:ln>
        </p:spPr>
      </p:sp>
      <p:sp>
        <p:nvSpPr>
          <p:cNvPr id="15366" name="dna-source-line-2">
            <a:extLst xmlns:a="http://schemas.openxmlformats.org/drawingml/2006/main">
              <a:ext uri="{FF2B5EF4-FFF2-40B4-BE49-F238E27FC236}">
                <a16:creationId xmlns:a16="http://schemas.microsoft.com/office/drawing/2014/main" id="{053064B5-B258-42D2-8105-9A525C2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A2B4"/>
            </a:solidFill>
            <a:prstDash val="solid"/>
          </a:ln>
        </p:spPr>
      </p:sp>
      <p:sp>
        <p:nvSpPr>
          <p:cNvPr id="15367" name="dna-source-line-3">
            <a:extLst xmlns:a="http://schemas.openxmlformats.org/drawingml/2006/main">
              <a:ext uri="{FF2B5EF4-FFF2-40B4-BE49-F238E27FC236}">
                <a16:creationId xmlns:a16="http://schemas.microsoft.com/office/drawing/2014/main" id="{34307798-033C-4B69-B3E9-C6349CDB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A2B4"/>
            </a:solidFill>
            <a:prstDash val="solid"/>
          </a:ln>
        </p:spPr>
      </p:sp>
      <p:sp>
        <p:nvSpPr>
          <p:cNvPr id="15368" name="dna-source-bus">
            <a:extLst xmlns:a="http://schemas.openxmlformats.org/drawingml/2006/main">
              <a:ext uri="{FF2B5EF4-FFF2-40B4-BE49-F238E27FC236}">
                <a16:creationId xmlns:a16="http://schemas.microsoft.com/office/drawing/2014/main" id="{037209BF-F8C0-4601-A8C3-C2DA227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A2B4"/>
            </a:solidFill>
            <a:prstDash val="solid"/>
          </a:ln>
        </p:spPr>
      </p:sp>
      <p:sp>
        <p:nvSpPr>
          <p:cNvPr id="15369" name="dna-to-fingerprint">
            <a:extLst xmlns:a="http://schemas.openxmlformats.org/drawingml/2006/main">
              <a:ext uri="{FF2B5EF4-FFF2-40B4-BE49-F238E27FC236}">
                <a16:creationId xmlns:a16="http://schemas.microsoft.com/office/drawing/2014/main" id="{48E5472D-CB82-4438-8D16-9775FAA3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163"/>
            </a:solidFill>
            <a:prstDash val="solid"/>
          </a:ln>
        </p:spPr>
      </p:sp>
      <p:sp>
        <p:nvSpPr>
          <p:cNvPr id="15370" name="dna-source-package">
            <a:extLst xmlns:a="http://schemas.openxmlformats.org/drawingml/2006/main">
              <a:ext uri="{FF2B5EF4-FFF2-40B4-BE49-F238E27FC236}">
                <a16:creationId xmlns:a16="http://schemas.microsoft.com/office/drawing/2014/main" id="{3DE3DCAB-9BB9-472B-BC23-7277D4CF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1452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5240">
            <a:solidFill>
              <a:srgbClr val="1F5A91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PHYSICAL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5371" name="dna-source-marketplace">
            <a:extLst xmlns:a="http://schemas.openxmlformats.org/drawingml/2006/main">
              <a:ext uri="{FF2B5EF4-FFF2-40B4-BE49-F238E27FC236}">
                <a16:creationId xmlns:a16="http://schemas.microsoft.com/office/drawing/2014/main" id="{BB5001DE-0144-4C3C-863C-F98E0937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5240">
            <a:solidFill>
              <a:srgbClr val="1F5A91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CAPTURED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5372" name="dna-source-history">
            <a:extLst xmlns:a="http://schemas.openxmlformats.org/drawingml/2006/main">
              <a:ext uri="{FF2B5EF4-FFF2-40B4-BE49-F238E27FC236}">
                <a16:creationId xmlns:a16="http://schemas.microsoft.com/office/drawing/2014/main" id="{BBDB0F00-9DB0-4E21-BFF8-925B6117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952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5240">
            <a:solidFill>
              <a:srgbClr val="1F5A91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PREVIOUS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5373" name="dna-fingerprint">
            <a:extLst xmlns:a="http://schemas.openxmlformats.org/drawingml/2006/main">
              <a:ext uri="{FF2B5EF4-FFF2-40B4-BE49-F238E27FC236}">
                <a16:creationId xmlns:a16="http://schemas.microsoft.com/office/drawing/2014/main" id="{7229FE67-D656-4CB9-A45B-BB470C3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0"/>
            <a:ext cx="26860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5240">
            <a:solidFill>
              <a:srgbClr val="168163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ONE PRODUCT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Declaration drift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Repeated flags</a:t>
            </a:r>
          </a:p>
        </p:txBody>
      </p:sp>
      <p:sp>
        <p:nvSpPr>
          <p:cNvPr id="15374" name="dna-explanation">
            <a:extLst xmlns:a="http://schemas.openxmlformats.org/drawingml/2006/main">
              <a:ext uri="{FF2B5EF4-FFF2-40B4-BE49-F238E27FC236}">
                <a16:creationId xmlns:a16="http://schemas.microsoft.com/office/drawing/2014/main" id="{7EA4F97F-7FBB-45B2-91E4-C8D57EA9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476"/>
                </a:solidFill>
                <a:latin typeface="Arial"/>
                <a:ea typeface="Arial"/>
                <a:cs typeface="Arial"/>
              </a:rPr>
              <a:t>Saved scans feed live comparisons. Sample marketplace sightings remain labelled.</a:t>
            </a:r>
          </a:p>
        </p:txBody>
      </p:sp>
    </p:spTree>
    <p:extLst>
      <p:ext uri="{BB962C8B-B14F-4D97-AF65-F5344CB8AC3E}">
        <p14:creationId xmlns:p14="http://schemas.microsoft.com/office/powerpoint/2010/main" val="2979728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3465973-6300-4C67-B60E-FED8D2908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0"/>
            <a:ext cx="7810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71AF0B23-51B0-432C-B12D-FD5AAC49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394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Implementation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React and TypeScript with Tesseract.js in the browser. IndexedDB retains photographs, extracted text and officer decisions.</a:t>
            </a:r>
          </a:p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Verification logic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Rules inspect text patterns and calculations. Low-confidence OCR needs review. DNA compares saved records, and Correction Lab reruns the rules on a draft.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20 automated tests pass. The current POC has no central backend or user authentication.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B62DEE-E906-4E4D-B13B-3C94FF891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07C9C2F-F34D-43D0-8406-E78C6BF2D6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56" y="252222"/>
            <a:ext cx="1251871" cy="80733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dotcom</a:t>
            </a:r>
            <a:endParaRPr/>
          </a:p>
        </p:txBody>
      </p:sp>
      <p:pic>
        <p:nvPicPr>
          <p:cNvPr id="174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2bd0438ed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FD84DFC3-9A54-4170-8E56-E12A890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57400"/>
            <a:ext cx="428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8C97"/>
          </a:solidFill>
          <a:ln xmlns:a="http://schemas.openxmlformats.org/drawingml/2006/main" w="9525">
            <a:solidFill>
              <a:srgbClr val="7F8C97"/>
            </a:solidFill>
            <a:prstDash val="solid"/>
          </a:ln>
        </p:spPr>
      </p:sp>
      <p:sp>
        <p:nvSpPr>
          <p:cNvPr id="17413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94915A03-6D46-420E-AFEB-257894A9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28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8C97"/>
          </a:solidFill>
          <a:ln xmlns:a="http://schemas.openxmlformats.org/drawingml/2006/main" w="9525">
            <a:solidFill>
              <a:srgbClr val="7F8C97"/>
            </a:solidFill>
            <a:prstDash val="solid"/>
          </a:ln>
        </p:spPr>
      </p:sp>
      <p:sp>
        <p:nvSpPr>
          <p:cNvPr id="17414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86E792EC-0A8B-42CD-8BFA-AEF56A2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57400"/>
            <a:ext cx="428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8C97"/>
          </a:solidFill>
          <a:ln xmlns:a="http://schemas.openxmlformats.org/drawingml/2006/main" w="9525">
            <a:solidFill>
              <a:srgbClr val="7F8C97"/>
            </a:solidFill>
            <a:prstDash val="solid"/>
          </a:ln>
        </p:spPr>
      </p:sp>
      <p:sp>
        <p:nvSpPr>
          <p:cNvPr id="17415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CE0FE6B7-B53A-4EF0-8CE0-803EB642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428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8C97"/>
          </a:solidFill>
          <a:ln xmlns:a="http://schemas.openxmlformats.org/drawingml/2006/main" w="9525">
            <a:solidFill>
              <a:srgbClr val="7F8C97"/>
            </a:solidFill>
            <a:prstDash val="solid"/>
          </a:ln>
        </p:spPr>
      </p:sp>
      <p:sp>
        <p:nvSpPr>
          <p:cNvPr id="17416" name="workflow-1">
            <a:extLst xmlns:a="http://schemas.openxmlformats.org/drawingml/2006/main">
              <a:ext uri="{FF2B5EF4-FFF2-40B4-BE49-F238E27FC236}">
                <a16:creationId xmlns:a16="http://schemas.microsoft.com/office/drawing/2014/main" id="{D8B027E0-5EC5-4F65-A95A-6BD0110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7640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CAPTURE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ALL SURFACES</a:t>
            </a:r>
          </a:p>
        </p:txBody>
      </p:sp>
      <p:sp>
        <p:nvSpPr>
          <p:cNvPr id="17417" name="workflow-2">
            <a:extLst xmlns:a="http://schemas.openxmlformats.org/drawingml/2006/main">
              <a:ext uri="{FF2B5EF4-FFF2-40B4-BE49-F238E27FC236}">
                <a16:creationId xmlns:a16="http://schemas.microsoft.com/office/drawing/2014/main" id="{2D1FE0BD-16F6-4B6C-B3F6-93858D5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7640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LOCAL OCR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EXTRACT TEXT</a:t>
            </a:r>
          </a:p>
        </p:txBody>
      </p:sp>
      <p:sp>
        <p:nvSpPr>
          <p:cNvPr id="17418" name="workflow-3">
            <a:extLst xmlns:a="http://schemas.openxmlformats.org/drawingml/2006/main">
              <a:ext uri="{FF2B5EF4-FFF2-40B4-BE49-F238E27FC236}">
                <a16:creationId xmlns:a16="http://schemas.microsoft.com/office/drawing/2014/main" id="{319D1532-F84E-49FC-990D-CD048908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7640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RULE ENGINE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CHECK 12</a:t>
            </a:r>
          </a:p>
        </p:txBody>
      </p:sp>
      <p:sp>
        <p:nvSpPr>
          <p:cNvPr id="17419" name="workflow-4">
            <a:extLst xmlns:a="http://schemas.openxmlformats.org/drawingml/2006/main">
              <a:ext uri="{FF2B5EF4-FFF2-40B4-BE49-F238E27FC236}">
                <a16:creationId xmlns:a16="http://schemas.microsoft.com/office/drawing/2014/main" id="{8C086D9A-1FB3-459F-A9FE-1AE9EF1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2ED"/>
          </a:solidFill>
          <a:ln xmlns:a="http://schemas.openxmlformats.org/drawingml/2006/main" w="19050">
            <a:solidFill>
              <a:srgbClr val="14824A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REPORT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OFFICER REVIEW</a:t>
            </a:r>
          </a:p>
        </p:txBody>
      </p:sp>
      <p:sp>
        <p:nvSpPr>
          <p:cNvPr id="17420" name="workflow-5">
            <a:extLst xmlns:a="http://schemas.openxmlformats.org/drawingml/2006/main">
              <a:ext uri="{FF2B5EF4-FFF2-40B4-BE49-F238E27FC236}">
                <a16:creationId xmlns:a16="http://schemas.microsoft.com/office/drawing/2014/main" id="{B2B252C4-E7C3-4447-8C1D-FC717BBD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7640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4288">
            <a:solidFill>
              <a:srgbClr val="168163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PRODUCT DNA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5A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A91"/>
                </a:solidFill>
                <a:latin typeface="Arial"/>
                <a:ea typeface="Arial"/>
                <a:cs typeface="Arial"/>
              </a:rPr>
              <a:t>SAVED HISTORY</a:t>
            </a:r>
          </a:p>
        </p:txBody>
      </p:sp>
    </p:spTree>
    <p:extLst>
      <p:ext uri="{BB962C8B-B14F-4D97-AF65-F5344CB8AC3E}">
        <p14:creationId xmlns:p14="http://schemas.microsoft.com/office/powerpoint/2010/main" val="2804897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8C92CD3-2AF7-4E71-968F-79D274F80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0"/>
            <a:ext cx="7810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1B24B7BB-2E6D-43CC-BD41-CA6D672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66737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Working improvements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The prototype retains photo evidence after refresh, checks imported-product mismatches and records officer decisions.</a:t>
            </a:r>
          </a:p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HydraGlow correction simulation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Adding the missing email and correcting unit price changes two findings. The sample score rises from 79 to 93 while the original record stays unchanged.</a:t>
            </a:r>
          </a:p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Validation before 30 September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Test unseen real packages, measure field extraction and false flags, and obtain expert feedback on applicability.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596466-B7A4-4AB8-A499-98397DDDF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B04F78E-37AC-41AA-9C3A-7DB4069C11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222"/>
            <a:ext cx="1524000" cy="80733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pic>
        <p:nvPicPr>
          <p:cNvPr id="174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2dc12b12a4b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5aae0b9ca4a84"/>
          <a:srcRect xmlns:a="http://schemas.openxmlformats.org/drawingml/2006/main" l="0" t="3723" r="0" b="37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09700"/>
            <a:ext cx="44767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17413" name="test-result-caption">
            <a:extLst xmlns:a="http://schemas.openxmlformats.org/drawingml/2006/main">
              <a:ext uri="{FF2B5EF4-FFF2-40B4-BE49-F238E27FC236}">
                <a16:creationId xmlns:a16="http://schemas.microsoft.com/office/drawing/2014/main" id="{DFD117A2-3D7B-4442-85D6-4393477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GENERATED TEST PACKAGE FOR LIVE OCR</a:t>
            </a:r>
          </a:p>
        </p:txBody>
      </p:sp>
      <p:sp>
        <p:nvSpPr>
          <p:cNvPr id="17414" name="dotcom-mark-slide-4">
            <a:extLst xmlns:a="http://schemas.openxmlformats.org/drawingml/2006/main">
              <a:ext uri="{FF2B5EF4-FFF2-40B4-BE49-F238E27FC236}">
                <a16:creationId xmlns:a16="http://schemas.microsoft.com/office/drawing/2014/main" id="{AB3F1FED-DB31-4D28-9B07-0A11ABC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413"/>
            <a:ext cx="1524000" cy="807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dotcom</a:t>
            </a:r>
          </a:p>
        </p:txBody>
      </p:sp>
      <p:pic>
        <p:nvPicPr>
          <p:cNvPr id="174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01b43a7904827"/>
          <a:stretch xmlns:a="http://schemas.openxmlformats.org/drawingml/2006/main"/>
        </p:blipFill>
        <p:spPr>
          <a:xfrm xmlns:a="http://schemas.openxmlformats.org/drawingml/2006/main">
            <a:off x="9782175" y="2692"/>
            <a:ext cx="2247900" cy="10614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CC785376-E8C2-4E69-9337-D3BE28C26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0"/>
            <a:ext cx="7810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1EEA1211-9AFB-44D8-B1ED-FF4BFF46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5095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Intended value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Inspectors can revisit original evidence and focus on scans that need attention.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Compliance DNA reveals declaration changes and repeated flags across saved product records.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Manufacturers can test proposed corrections before printing another label version.</a:t>
            </a:r>
          </a:p>
          <a:p xmlns:a="http://schemas.openxmlformats.org/drawingml/2006/main">
            <a:pPr>
              <a:spcAft>
                <a:spcPts val="1150"/>
              </a:spcAft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A real-package benchmark will quantify accuracy and time saved.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76A374-3699-4407-9C8D-90B98124F1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B3DD83F-A4EC-4AA8-B09E-B3EC9C8782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222"/>
            <a:ext cx="1524000" cy="80733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dotcom</a:t>
            </a:r>
            <a:endParaRPr/>
          </a:p>
        </p:txBody>
      </p:sp>
      <p:pic>
        <p:nvPicPr>
          <p:cNvPr id="1742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1d49137bf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impact-divider">
            <a:extLst xmlns:a="http://schemas.openxmlformats.org/drawingml/2006/main">
              <a:ext uri="{FF2B5EF4-FFF2-40B4-BE49-F238E27FC236}">
                <a16:creationId xmlns:a16="http://schemas.microsoft.com/office/drawing/2014/main" id="{E49C90CE-D626-4730-A10F-D5A1E76F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F"/>
            </a:solidFill>
            <a:prstDash val="solid"/>
          </a:ln>
        </p:spPr>
      </p:sp>
      <p:sp>
        <p:nvSpPr>
          <p:cNvPr id="17413" name="impact-scale-title">
            <a:extLst xmlns:a="http://schemas.openxmlformats.org/drawingml/2006/main">
              <a:ext uri="{FF2B5EF4-FFF2-40B4-BE49-F238E27FC236}">
                <a16:creationId xmlns:a16="http://schemas.microsoft.com/office/drawing/2014/main" id="{5FE5B39D-12B7-4135-A498-A3F4652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Next implementation stage</a:t>
            </a:r>
          </a:p>
        </p:txBody>
      </p:sp>
      <p:sp>
        <p:nvSpPr>
          <p:cNvPr id="17414" name="impact-scale-body">
            <a:extLst xmlns:a="http://schemas.openxmlformats.org/drawingml/2006/main">
              <a:ext uri="{FF2B5EF4-FFF2-40B4-BE49-F238E27FC236}">
                <a16:creationId xmlns:a16="http://schemas.microsoft.com/office/drawing/2014/main" id="{F79E6555-E0D3-4C88-B784-74C9E952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Priorities: multilingual OCR evaluation, a shared backend with authentication, and marketplace evidence intake.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International expansion would require expert-validated rule packs for each jurisdiction.</a:t>
            </a:r>
          </a:p>
        </p:txBody>
      </p:sp>
      <p:sp>
        <p:nvSpPr>
          <p:cNvPr id="17415" name="impact-dna-line">
            <a:extLst xmlns:a="http://schemas.openxmlformats.org/drawingml/2006/main">
              <a:ext uri="{FF2B5EF4-FFF2-40B4-BE49-F238E27FC236}">
                <a16:creationId xmlns:a16="http://schemas.microsoft.com/office/drawing/2014/main" id="{85C3B51B-827D-4702-8B6F-F447274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Product history and correction testing extend the value of each inspection.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A35CE76-CD38-4D3B-AFA0-F99E394B6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0"/>
            <a:ext cx="7810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AB30B55E-7268-4648-A43C-587FC35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6048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Official legal basis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1"/>
                </a:solidFill>
                <a:latin typeface="Arial"/>
                <a:ea typeface="Arial"/>
                <a:cs typeface="Arial"/>
              </a:rPr>
              <a:t>Department of Consumer Affairs: Legal Metrology Act, 2009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1"/>
                </a:solidFill>
                <a:latin typeface="Arial"/>
                <a:ea typeface="Arial"/>
                <a:cs typeface="Arial"/>
              </a:rPr>
              <a:t>Legal Metrology (Packaged Commodities) Rules, 2011 with consolidated amendments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1"/>
                </a:solidFill>
                <a:latin typeface="Arial"/>
                <a:ea typeface="Arial"/>
                <a:cs typeface="Arial"/>
              </a:rPr>
              <a:t>Official Legal Metrology FAQ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Technical basis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1"/>
                </a:solidFill>
                <a:latin typeface="Arial"/>
                <a:ea typeface="Arial"/>
                <a:cs typeface="Arial"/>
              </a:rPr>
              <a:t>Tesseract.js OCR documentation</a:t>
            </a:r>
          </a:p>
          <a:p xmlns:a="http://schemas.openxmlformats.org/drawingml/2006/main">
            <a:pPr marL="254000" indent="-127000">
              <a:buChar char="•"/>
              <a:defRPr sz="1725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1"/>
                </a:solidFill>
                <a:latin typeface="Arial"/>
                <a:ea typeface="Arial"/>
                <a:cs typeface="Arial"/>
              </a:rPr>
              <a:t>github.com/SankalpSamarth/NiyamDrishti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798C5D-454B-4DAE-866E-B246900786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F492C58-D5AB-42CE-A003-D466989A1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222"/>
            <a:ext cx="1524000" cy="80733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pic>
        <p:nvPicPr>
          <p:cNvPr id="1742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10374ceff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CD3CF2B5-5502-4D8E-B753-1950D07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7162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81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8163"/>
                </a:solidFill>
                <a:latin typeface="Arial"/>
                <a:ea typeface="Arial"/>
                <a:cs typeface="Arial"/>
              </a:rPr>
              <a:t>POC validation</a:t>
            </a:r>
          </a:p>
        </p:txBody>
      </p:sp>
      <p:sp>
        <p:nvSpPr>
          <p:cNvPr id="17413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4ACA7094-B65D-4FDC-884A-C3CB5469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143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20 automated tests passing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1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Correction simulation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2 findings change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1"/>
                </a:solidFill>
                <a:latin typeface="Arial"/>
                <a:ea typeface="Arial"/>
                <a:cs typeface="Arial"/>
              </a:rPr>
              <a:t>Original evidence stays intact</a:t>
            </a:r>
          </a:p>
        </p:txBody>
      </p:sp>
      <p:sp>
        <p:nvSpPr>
          <p:cNvPr id="17414" name="validation-separator">
            <a:extLst xmlns:a="http://schemas.openxmlformats.org/drawingml/2006/main">
              <a:ext uri="{FF2B5EF4-FFF2-40B4-BE49-F238E27FC236}">
                <a16:creationId xmlns:a16="http://schemas.microsoft.com/office/drawing/2014/main" id="{8A759EC1-1F95-4B36-87D1-C4AE405C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85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F"/>
            </a:solidFill>
            <a:prstDash val="solid"/>
          </a:ln>
        </p:spPr>
      </p:sp>
      <p:sp>
        <p:nvSpPr>
          <p:cNvPr id="17415" name="scope-title">
            <a:extLst xmlns:a="http://schemas.openxmlformats.org/drawingml/2006/main">
              <a:ext uri="{FF2B5EF4-FFF2-40B4-BE49-F238E27FC236}">
                <a16:creationId xmlns:a16="http://schemas.microsoft.com/office/drawing/2014/main" id="{34EAA20F-6956-4E5C-A084-7242C56B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14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8A4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A436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17416" name="scope-body">
            <a:extLst xmlns:a="http://schemas.openxmlformats.org/drawingml/2006/main">
              <a:ext uri="{FF2B5EF4-FFF2-40B4-BE49-F238E27FC236}">
                <a16:creationId xmlns:a16="http://schemas.microsoft.com/office/drawing/2014/main" id="{E9E8C618-F2EB-4F93-9761-7B54B58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143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12-check POC subset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English OCR, local storage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Officer verification required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1"/>
                </a:solidFill>
                <a:latin typeface="Arial"/>
                <a:ea typeface="Arial"/>
                <a:cs typeface="Arial"/>
              </a:rPr>
              <a:t>No production accuracy claim</a:t>
            </a:r>
          </a:p>
        </p:txBody>
      </p:sp>
      <p:sp>
        <p:nvSpPr>
          <p:cNvPr id="17417" name="dotcom-mark-slide-6">
            <a:extLst xmlns:a="http://schemas.openxmlformats.org/drawingml/2006/main">
              <a:ext uri="{FF2B5EF4-FFF2-40B4-BE49-F238E27FC236}">
                <a16:creationId xmlns:a16="http://schemas.microsoft.com/office/drawing/2014/main" id="{42FB60C6-152B-4772-AFFC-AD4EF19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413"/>
            <a:ext cx="1524000" cy="807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dotcom</a:t>
            </a:r>
          </a:p>
        </p:txBody>
      </p:sp>
      <p:pic>
        <p:nvPicPr>
          <p:cNvPr id="174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2a39f92604b9b"/>
          <a:stretch xmlns:a="http://schemas.openxmlformats.org/drawingml/2006/main"/>
        </p:blipFill>
        <p:spPr>
          <a:xfrm xmlns:a="http://schemas.openxmlformats.org/drawingml/2006/main">
            <a:off x="9782175" y="2692"/>
            <a:ext cx="2247900" cy="10614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2026-09-10T10:25:25.5260000Z</dcterms:created>
  <dcterms:modified xsi:type="dcterms:W3CDTF">2026-09-10T10:25:25.5260000Z</dcterms:modified>
</coreProperties>
</file>